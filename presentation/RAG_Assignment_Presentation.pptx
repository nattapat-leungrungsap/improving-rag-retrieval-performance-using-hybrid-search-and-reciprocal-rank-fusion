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e1e3d24c074658" /><Relationship Type="http://schemas.openxmlformats.org/officeDocument/2006/relationships/extended-properties" Target="/docProps/app.xml" Id="Re48f6309840542df" /><Relationship Type="http://schemas.openxmlformats.org/officeDocument/2006/relationships/officeDocument" Target="/ppt/presentation.xml" Id="R5501b03e65ac45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7db5af5b004ace"/>
  </p:sldMasterIdLst>
  <p:notesMasterIdLst>
    <p:notesMasterId xmlns:r="http://schemas.openxmlformats.org/officeDocument/2006/relationships" r:id="Re2a63dc77a114090"/>
  </p:notesMasterIdLst>
  <p:sldIdLst>
    <p:sldId xmlns:r="http://schemas.openxmlformats.org/officeDocument/2006/relationships" id="256" r:id="R9f327016847c4c50"/>
    <p:sldId xmlns:r="http://schemas.openxmlformats.org/officeDocument/2006/relationships" id="257" r:id="R1a45eeb580ba4d60"/>
    <p:sldId xmlns:r="http://schemas.openxmlformats.org/officeDocument/2006/relationships" id="258" r:id="R075ec994d5204040"/>
    <p:sldId xmlns:r="http://schemas.openxmlformats.org/officeDocument/2006/relationships" id="259" r:id="R912a31bcc9b24ff5"/>
    <p:sldId xmlns:r="http://schemas.openxmlformats.org/officeDocument/2006/relationships" id="260" r:id="Red88d10ee4624be7"/>
    <p:sldId xmlns:r="http://schemas.openxmlformats.org/officeDocument/2006/relationships" id="261" r:id="R91677511f95e4e91"/>
    <p:sldId xmlns:r="http://schemas.openxmlformats.org/officeDocument/2006/relationships" id="262" r:id="Re3c35af929064081"/>
    <p:sldId xmlns:r="http://schemas.openxmlformats.org/officeDocument/2006/relationships" id="263" r:id="R38598f106bdb45d6"/>
    <p:sldId xmlns:r="http://schemas.openxmlformats.org/officeDocument/2006/relationships" id="264" r:id="Ree62285716cf4e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ca53f032034fd5" /><Relationship Type="http://schemas.openxmlformats.org/officeDocument/2006/relationships/slideMaster" Target="/ppt/slideMasters/slideMaster1.xml" Id="R637db5af5b004ace" /><Relationship Type="http://schemas.openxmlformats.org/officeDocument/2006/relationships/notesMaster" Target="/ppt/notesMasters/notesMaster1.xml" Id="Re2a63dc77a114090" /><Relationship Type="http://schemas.openxmlformats.org/officeDocument/2006/relationships/presProps" Target="/ppt/presProps.xml" Id="R1c70a335c04846cf" /><Relationship Type="http://schemas.openxmlformats.org/officeDocument/2006/relationships/tableStyles" Target="/ppt/tableStyles.xml" Id="Ra18ca290d1c44d08" /><Relationship Type="http://schemas.openxmlformats.org/officeDocument/2006/relationships/slide" Target="/ppt/slides/slide1.xml" Id="R9f327016847c4c50" /><Relationship Type="http://schemas.openxmlformats.org/officeDocument/2006/relationships/slide" Target="/ppt/slides/slide2.xml" Id="R1a45eeb580ba4d60" /><Relationship Type="http://schemas.openxmlformats.org/officeDocument/2006/relationships/slide" Target="/ppt/slides/slide3.xml" Id="R075ec994d5204040" /><Relationship Type="http://schemas.openxmlformats.org/officeDocument/2006/relationships/slide" Target="/ppt/slides/slide4.xml" Id="R912a31bcc9b24ff5" /><Relationship Type="http://schemas.openxmlformats.org/officeDocument/2006/relationships/slide" Target="/ppt/slides/slide5.xml" Id="Red88d10ee4624be7" /><Relationship Type="http://schemas.openxmlformats.org/officeDocument/2006/relationships/slide" Target="/ppt/slides/slide6.xml" Id="R91677511f95e4e91" /><Relationship Type="http://schemas.openxmlformats.org/officeDocument/2006/relationships/slide" Target="/ppt/slides/slide7.xml" Id="Re3c35af929064081" /><Relationship Type="http://schemas.openxmlformats.org/officeDocument/2006/relationships/slide" Target="/ppt/slides/slide8.xml" Id="R38598f106bdb45d6" /><Relationship Type="http://schemas.openxmlformats.org/officeDocument/2006/relationships/slide" Target="/ppt/slides/slide9.xml" Id="Ree62285716cf4e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a4fd0147845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1a362995b44cca" /><Relationship Type="http://schemas.openxmlformats.org/officeDocument/2006/relationships/notesMaster" Target="/ppt/notesMasters/notesMaster1.xml" Id="R788cb696cc76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44fe68d9df4778" /><Relationship Type="http://schemas.openxmlformats.org/officeDocument/2006/relationships/notesMaster" Target="/ppt/notesMasters/notesMaster1.xml" Id="R4b953d3b09504e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fcdc9dcf904a0e" /><Relationship Type="http://schemas.openxmlformats.org/officeDocument/2006/relationships/notesMaster" Target="/ppt/notesMasters/notesMaster1.xml" Id="R5cc7a39f8a8b4b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c4dc157b314948" /><Relationship Type="http://schemas.openxmlformats.org/officeDocument/2006/relationships/notesMaster" Target="/ppt/notesMasters/notesMaster1.xml" Id="Rc8525c2efeb648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7df43bd6ed403a" /><Relationship Type="http://schemas.openxmlformats.org/officeDocument/2006/relationships/notesMaster" Target="/ppt/notesMasters/notesMaster1.xml" Id="R5e7f48e16e3e44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8642d570a74fe1" /><Relationship Type="http://schemas.openxmlformats.org/officeDocument/2006/relationships/notesMaster" Target="/ppt/notesMasters/notesMaster1.xml" Id="R203c0112683749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ac35162a4540df" /><Relationship Type="http://schemas.openxmlformats.org/officeDocument/2006/relationships/notesMaster" Target="/ppt/notesMasters/notesMaster1.xml" Id="Rdda93fcddf0a4e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14e4084fb94d7a" /><Relationship Type="http://schemas.openxmlformats.org/officeDocument/2006/relationships/notesMaster" Target="/ppt/notesMasters/notesMaster1.xml" Id="R9e8a44455c6447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c21c4b42ab4864" /><Relationship Type="http://schemas.openxmlformats.org/officeDocument/2006/relationships/notesMaster" Target="/ppt/notesMasters/notesMaster1.xml" Id="Rdba7802abbdd4c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สรุปโครงการจาก README.md, ASSIGNMENT_COMPARISON.md และ improvement_evaluation_report.json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ข้อกำหนด Assignment ที่ผู้ใช้ให้ และ ASSIGNMENT_COMPARISON.md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authenticRAG.py และ onlysearchAuthenticRAG.py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authenticRAG.py และผล analyzer ใน improvement_evaluation_report.json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build_thai_bm25_index.py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evaluate_improvement.py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evaluation_qrels.json และ improvement_evaluation_report.json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improvement_evaluation_report.json และ ASSIGNMENT_COMPARISON.md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improvement_evaluation_report.json ผลทดลองวันที่ 20 ตุลาคม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8c090f66841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98b86732746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01c6789054a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bc047f4ec47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2e8fdacdb4b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6b4911d2141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6DC4C3-EC3F-45D9-B6CF-C160FAC9C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44EF6F-0EA9-4186-9D3C-1237E7A38B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7DEA6C-0F5D-4355-9AA7-8D5FF580F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7D1804-6022-468F-98A4-C253CCAE3F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85CC6D-C5F0-4A74-8B22-9D8097BA1C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1A54F8-3DD1-421C-89DC-31C929EF0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94FB21-7F14-4CF1-AA74-B05E894C7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C4E46D-74FC-4C5A-A079-F87F50791A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86A511-3C3D-484C-B5C0-07A65F3047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F3B051-1519-40F8-A568-0802DDD0D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e9793efcb4e26" /><Relationship Type="http://schemas.openxmlformats.org/officeDocument/2006/relationships/slideLayout" Target="/ppt/slideLayouts/slideLayout1.xml" Id="R2531c29cbdfb465e" /><Relationship Type="http://schemas.openxmlformats.org/officeDocument/2006/relationships/slideLayout" Target="/ppt/slideLayouts/slideLayout2.xml" Id="R2745937cb57c48ba" /><Relationship Type="http://schemas.openxmlformats.org/officeDocument/2006/relationships/slideLayout" Target="/ppt/slideLayouts/slideLayout3.xml" Id="R54e1ee6d2c2b4616" /><Relationship Type="http://schemas.openxmlformats.org/officeDocument/2006/relationships/slideLayout" Target="/ppt/slideLayouts/slideLayout4.xml" Id="Rb32583739d2d4ad7" /><Relationship Type="http://schemas.openxmlformats.org/officeDocument/2006/relationships/slideLayout" Target="/ppt/slideLayouts/slideLayout5.xml" Id="Rb1c05c1d81a548cd" /><Relationship Type="http://schemas.openxmlformats.org/officeDocument/2006/relationships/slideLayout" Target="/ppt/slideLayouts/slideLayout6.xml" Id="R328832c991c14b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31c29cbdfb465e"/>
    <p:sldLayoutId xmlns:r="http://schemas.openxmlformats.org/officeDocument/2006/relationships" id="2147483650" r:id="R2745937cb57c48ba"/>
    <p:sldLayoutId xmlns:r="http://schemas.openxmlformats.org/officeDocument/2006/relationships" id="2147483651" r:id="R54e1ee6d2c2b4616"/>
    <p:sldLayoutId xmlns:r="http://schemas.openxmlformats.org/officeDocument/2006/relationships" id="2147483652" r:id="Rb32583739d2d4ad7"/>
    <p:sldLayoutId xmlns:r="http://schemas.openxmlformats.org/officeDocument/2006/relationships" id="2147483653" r:id="Rb1c05c1d81a548cd"/>
    <p:sldLayoutId xmlns:r="http://schemas.openxmlformats.org/officeDocument/2006/relationships" id="2147483654" r:id="R328832c991c14b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1fdf999d641c7" /><Relationship Type="http://schemas.openxmlformats.org/officeDocument/2006/relationships/notesSlide" Target="/ppt/notesSlides/notesSlide1.xml" Id="R5a2c481fc3564d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f97a7d4f349b2" /><Relationship Type="http://schemas.openxmlformats.org/officeDocument/2006/relationships/notesSlide" Target="/ppt/notesSlides/notesSlide2.xml" Id="R4f69930352eb43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8b0b567f04102" /><Relationship Type="http://schemas.openxmlformats.org/officeDocument/2006/relationships/notesSlide" Target="/ppt/notesSlides/notesSlide3.xml" Id="Rc038030d0a2a4b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a0a14b37c4184" /><Relationship Type="http://schemas.openxmlformats.org/officeDocument/2006/relationships/notesSlide" Target="/ppt/notesSlides/notesSlide4.xml" Id="Rddc51b43d7e149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cfb2108df48d4" /><Relationship Type="http://schemas.openxmlformats.org/officeDocument/2006/relationships/notesSlide" Target="/ppt/notesSlides/notesSlide5.xml" Id="R700570253bc349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6243d69f6416b" /><Relationship Type="http://schemas.openxmlformats.org/officeDocument/2006/relationships/notesSlide" Target="/ppt/notesSlides/notesSlide6.xml" Id="Rbab6d348868e4d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08574b6632423e" /><Relationship Type="http://schemas.openxmlformats.org/officeDocument/2006/relationships/notesSlide" Target="/ppt/notesSlides/notesSlide7.xml" Id="R1f9ea80c8f8d46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264a039bf490f" /><Relationship Type="http://schemas.openxmlformats.org/officeDocument/2006/relationships/notesSlide" Target="/ppt/notesSlides/notesSlide8.xml" Id="Rf05681d2c1a44d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d2a3497894120" /><Relationship Type="http://schemas.openxmlformats.org/officeDocument/2006/relationships/chart" Target="/ppt/slides/charts/chart1.xml" Id="Rf641e1870c5c47ca" /><Relationship Type="http://schemas.openxmlformats.org/officeDocument/2006/relationships/notesSlide" Target="/ppt/notesSlides/notesSlide9.xml" Id="Rf5561b5a43a8498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Baseline RRF เทียบกับ Weighted RRF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2304A"/>
              </a:solidFill>
              <a:latin typeface="Tahoma"/>
              <a:ea typeface="Tahoma"/>
              <a:cs typeface="Tahoma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Baseline RRF</c:v>
          </c:tx>
          <c:spPr>
            <a:solidFill xmlns:a="http://schemas.openxmlformats.org/drawingml/2006/main">
              <a:srgbClr val="12304A"/>
            </a:solidFill>
          </c:spPr>
          <c:cat>
            <c:strLit>
              <c:ptCount val="4"/>
              <c:pt idx="0">
                <c:v>Precision@5</c:v>
              </c:pt>
              <c:pt idx="1">
                <c:v>Recall@5</c:v>
              </c:pt>
              <c:pt idx="2">
                <c:v>MRR</c:v>
              </c:pt>
              <c:pt idx="3">
                <c:v>nDCG@5</c:v>
              </c:pt>
            </c:strLit>
          </c:cat>
          <c:val>
            <c:numLit>
              <c:formatCode>0.0</c:formatCode>
              <c:ptCount val="4"/>
              <c:pt idx="0">
                <c:v>0.36</c:v>
              </c:pt>
              <c:pt idx="1">
                <c:v>0.933</c:v>
              </c:pt>
              <c:pt idx="2">
                <c:v>1</c:v>
              </c:pt>
              <c:pt idx="3">
                <c:v>0.862</c:v>
              </c:pt>
            </c:numLit>
          </c:val>
        </c:ser>
        <c:ser>
          <c:idx val="1"/>
          <c:order val="1"/>
          <c:tx>
            <c:v>Weighted RRF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4"/>
              <c:pt idx="0">
                <c:v>Precision@5</c:v>
              </c:pt>
              <c:pt idx="1">
                <c:v>Recall@5</c:v>
              </c:pt>
              <c:pt idx="2">
                <c:v>MRR</c:v>
              </c:pt>
              <c:pt idx="3">
                <c:v>nDCG@5</c:v>
              </c:pt>
            </c:strLit>
          </c:cat>
          <c:val>
            <c:numLit>
              <c:formatCode>0.0</c:formatCode>
              <c:ptCount val="4"/>
              <c:pt idx="0">
                <c:v>0.4</c:v>
              </c:pt>
              <c:pt idx="1">
                <c:v>1</c:v>
              </c:pt>
              <c:pt idx="2">
                <c:v>0.767</c:v>
              </c:pt>
              <c:pt idx="3">
                <c:v>0.799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A4748-2759-480B-A14F-CC78CA9C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524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Improving RAG Retrieval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70C5B-5976-443C-8C4C-AF2B1C5D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A7F3D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7F3D0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A7F3D0"/>
                </a:solidFill>
                <a:latin typeface="Tahoma"/>
                <a:ea typeface="Tahoma"/>
                <a:cs typeface="Tahoma"/>
              </a:rPr>
              <a:t>Using Hybrid Search and Reciprocal Rank 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548FC-AEC6-45B8-86BD-40CF35A0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EEA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D6CBF-C0E9-41F6-A14C-773D31D0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E2E8F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E2E8F0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E2E8F0"/>
                </a:solidFill>
                <a:latin typeface="Tahoma"/>
                <a:ea typeface="Tahoma"/>
                <a:cs typeface="Tahoma"/>
              </a:rPr>
              <a:t>Baseline: Standard BM25 + Vector + RRF</a:t>
            </a:r>
          </a:p>
          <a:p xmlns:a="http://schemas.openxmlformats.org/drawingml/2006/main">
            <a:pPr>
              <a:defRPr sz="1650" b="0">
                <a:solidFill>
                  <a:srgbClr val="E2E8F0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E2E8F0"/>
                </a:solidFill>
                <a:latin typeface="Tahoma"/>
                <a:ea typeface="Tahoma"/>
                <a:cs typeface="Tahoma"/>
              </a:rPr>
              <a:t>Improvement: Thai BM25 + Weighted RRF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0EF83-888D-479F-B6A2-F5D8F00F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ณัฐภัทร เหลืองรุ่งทรัพย์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55175-5671-45CF-A462-CD51061F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>
              <a:defRPr sz="1050" b="0">
                <a:solidFill>
                  <a:srgbClr val="CBD5E1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BD5E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CBD5E1"/>
                </a:solidFill>
                <a:latin typeface="Tahoma"/>
                <a:ea typeface="Tahoma"/>
                <a:cs typeface="Tahoma"/>
              </a:rPr>
              <a:t>Natural Language Processing Assignment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3B814-FA1F-44D4-971A-4E7D96C3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335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4650" b="1">
                <a:solidFill>
                  <a:srgbClr val="5EEAD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5EEAD4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5EEAD4"/>
                </a:solidFill>
                <a:latin typeface="Tahoma"/>
                <a:ea typeface="Tahoma"/>
                <a:cs typeface="Tahoma"/>
              </a:rPr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140922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9E9ED-9DE0-4754-99C6-72C14A7E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โจทย์ Assignment และสิ่งที่ส่งมอบ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46D2B-55C4-4F08-81EA-A57C074C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F1280-54BA-429A-9D2A-EB813A64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โครงงานต้องมีทั้งระบบตามสไลด์และระบบที่ปรับปรุง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98623-2EB8-4FBC-89C1-C2B67C98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BA068-6648-425A-A874-7BFA8A65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81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>
              <a:defRPr sz="18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06540-2D15-4B76-88AA-7A017D86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812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สร้าง RAG ตามสไลด์หน้า 22 และ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2BA43-3A5F-4F85-8AB7-2C6E1DCD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5D379-BB0A-4E72-B3F2-6DB5A4D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47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>
              <a:defRPr sz="18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Improvement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8DB6D-0839-4546-B92D-5ADEC47C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ปรับ Search และ Scoring โดยไม่เปลี่ยน LLM สุดท้าย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10823-69FD-4090-8973-F52DB15F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7DDE3-3363-4A33-9B5A-46DDDA67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14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>
              <a:defRPr sz="18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CED4A-9D64-446F-B56C-FCE90C56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อธิบายความต่าง พร้อมวัดว่าดีขึ้นอย่างไร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C91FE-4EDC-42F4-BB81-EB35C2BB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BFB0F-9E5D-4495-8747-630C5E95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81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>
              <a:defRPr sz="18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GitHub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0004E-08F5-4B61-9840-80B923FD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เก็บโค้ด คำอธิบาย และผลการทดลอง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DA736-3809-4CE7-A62A-51364E37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Improving RAG Retrieval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EE112-C3CF-4718-94FA-3D2AB11D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4598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0FFD0-1D3F-428D-95A6-72DFE850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ระบบ Baseline ตามสไลด์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80379-5544-463F-9618-A57B6525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F28D4-61F4-4C45-BFC2-39DEC03C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Contextual RAG ที่รวม lexical search และ semantic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54D61-C02F-41E1-BAEE-C6AE6D4F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8097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4EF00-F950-484C-9293-3D7FFA0B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Markdown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E66F8-CF4A-4A1F-BBD0-622F3494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เอกสารต้นฉบับ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5819D-8EBC-474F-89FC-53A40F26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DE1F0-028A-436F-9B03-1B31451D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18097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12C3C-3FE6-44B6-B60A-12DE1FED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624"/>
          </a:bodyPr>
          <a:lstStyle xmlns:a="http://schemas.openxmlformats.org/drawingml/2006/main">
            <a:defPPr algn="ct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Chunk +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755C5-BBF3-488D-B69C-34D834F6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>
            <a:def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แบ่งข้อความและสร้างบริบท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DE8C5-45BA-42E8-8B11-1648150D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717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0CC1E-6F74-4C3D-B64A-E96C328C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38350"/>
            <a:ext cx="18097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08BE6-369A-46F7-B94A-A02DDF5C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2 Indexes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AF31C-3316-4829-A060-BE03801E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0035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>
            <a:def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Standard BM25 และ Vector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B8515-0705-43FE-AD5E-1EDC368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3ADB0-4700-41DE-9A4F-381B6D90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18097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B5A8B-BC3B-48AA-B395-D2439987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05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RRF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5D4C6-951B-4D9F-9A46-396865DB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0035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>
            <a:def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รวมอันดับ Top candidates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C60C7-821A-4140-91A0-0E3F0162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95C4A-5DC3-492D-914F-CF14323E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8097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42EC5-04CD-40BE-899C-AB604A1E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LLM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ED13D-365E-44FC-A015-78CFED77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035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>
            <a:def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สร้างคำตอบจาก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905C3-0481-4391-877A-F254F99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Baseline indexes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CCE56-799D-4752-9F26-83C4510A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B91C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B91C1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anthropic-bm25-index</a:t>
            </a:r>
          </a:p>
          <a:p xmlns:a="http://schemas.openxmlformats.org/drawingml/2006/main">
            <a:pPr algn="ctr">
              <a:defRPr sz="1500" b="0">
                <a:solidFill>
                  <a:srgbClr val="B91C1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Analyzer: standard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82967-9952-4D07-9341-4A68951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624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0F766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0F766E"/>
                </a:solidFill>
                <a:latin typeface="Tahoma"/>
                <a:ea typeface="Tahoma"/>
                <a:cs typeface="Tahoma"/>
              </a:rPr>
              <a:t>anthropic-vector-index</a:t>
            </a:r>
          </a:p>
          <a:p xmlns:a="http://schemas.openxmlformats.org/drawingml/2006/main">
            <a:pPr algn="ctr">
              <a:defRPr sz="1500" b="0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0F766E"/>
                </a:solidFill>
                <a:latin typeface="Tahoma"/>
                <a:ea typeface="Tahoma"/>
                <a:cs typeface="Tahoma"/>
              </a:rPr>
              <a:t>Embedding: BAAI/bge-m3 (1,024 dimensions)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01757-BB03-427F-95DF-4D49791E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958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คงโค้ดนี้ไว้เป็นข้อ (1)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51EAA7-3C2A-4F3D-830C-9D2A78E6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Improving RAG Retrieval Performance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1E6A26-EC9D-4025-B16F-75182C74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95553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7EBA9-81E6-4E19-A4F7-D867866A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ปัญหาของ Standard analyzer กับภาษาไทย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DC80B-9BB8-4716-8D2C-0A9C57E2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21980-DD25-4D6C-BE8C-0C993670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ข้อความภาษาไทยไม่มีช่องว่างระหว่างทุกคำ จึงเกิด token ที่ยาวเกินไป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B20D8-22F2-4951-BE5E-7BD72248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53000" cy="3371850"/>
          </a:xfrm>
          <a:prstGeom xmlns:a="http://schemas.openxmlformats.org/drawingml/2006/main" prst="roundRect">
            <a:avLst>
              <a:gd name="adj" fmla="val 113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1F8AA-A87C-48D8-A18F-594170BA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Baseline index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0F731-2DF0-43E1-9556-4C092226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4610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"analysis": {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"analyzer": {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"default": {"type": "standard"}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},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"content": {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"type": "text",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"analyzer": "standard"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FB2B9-F31E-4CC1-A200-FD1EA903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>
            <a:defPPr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ข้อความทดสอบ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29695-9076-4052-B35A-67F2D537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อาการของโรคหัดเยอรมัน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7804B-D11D-42FA-9995-03522205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91C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91C1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91C1C"/>
                </a:solidFill>
                <a:latin typeface="Tahoma"/>
                <a:ea typeface="Tahoma"/>
                <a:cs typeface="Tahoma"/>
              </a:rPr>
              <a:t>Standard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E549F-6C2A-429B-9EB2-AEE315B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B91C1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B91C1C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B91C1C"/>
                </a:solidFill>
                <a:latin typeface="Menlo"/>
                <a:ea typeface="Menlo"/>
                <a:cs typeface="Menlo"/>
              </a:rPr>
              <a:t>[ อาการของโรคหัดเยอรมัน 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A40B5-71D2-4BF1-8455-6778B73C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58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803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5803D"/>
                </a:solidFill>
                <a:latin typeface="Tahoma"/>
                <a:ea typeface="Tahoma"/>
                <a:cs typeface="Tahoma"/>
              </a:rPr>
              <a:t>Thai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556F3-6BCF-4F64-8172-661FF45D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803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5803D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5803D"/>
                </a:solidFill>
                <a:latin typeface="Menlo"/>
                <a:ea typeface="Menlo"/>
                <a:cs typeface="Menlo"/>
              </a:rPr>
              <a:t>[ อาการ, โรค, หัดเยอรมัน 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41A29-D9E6-4962-8737-F12A4991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9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>
            <a:defPPr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ผลต่อ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B451B-9D3F-4C9D-8784-64BFACBE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BM25 ไม่พบผลลัพธ์จากคำถามภาษาไทยทั้ง 5 ข้อ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ดังนั้น Baseline RRF มีอันดับเหมือน Vector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78028-A6C1-488B-837D-EFDAF8FA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Improving RAG Retrieval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76BBF-8E25-4F90-A1FF-5ECCB3FA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2048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0D435-94F9-4910-BE83-6B3063DB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การปรับปรุง BM25 ด้วย Thai analyzer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7A616-36DB-4CEF-966D-8F57F697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DB618-0988-4927-82EE-41FB8215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สร้าง index ใหม่แยกจาก Baseline เพื่อให้เปรียบเทียบได้อย่างยุติธรรม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BF457-D5C4-4F35-B762-D7A687C1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334000" cy="3371850"/>
          </a:xfrm>
          <a:prstGeom xmlns:a="http://schemas.openxmlformats.org/drawingml/2006/main" prst="roundRect">
            <a:avLst>
              <a:gd name="adj" fmla="val 113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08EB3-6DC5-48C1-A91B-BD0A1AAD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anthropic-bm25-thai-index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DAAB8-CD3C-4E92-A46F-15122819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991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"content": {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"type": "text",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"analyzer": "thai",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"search_analyzer": "thai"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},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"contextualized_content": {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"type": "text",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"analyzer": "thai",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"search_analyzer": "thai"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21A8B-490E-480B-9D54-20E464E3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8FD7F-D7FD-4A98-B2E9-2647B5D8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38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สร้าง index ใหม่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F9997-E89B-4746-A881-012CF4FD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19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ไม่เขียนทับ anthropic-bm25-index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6ECC0-CB2F-4961-8114-DBC6D46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5C66E-6F74-41F8-B5DD-55F149B1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คัดลอกเอกสารเดิม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E5500-4E64-4457-87EA-B1C94B08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19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ใช้ chunks ชุดเดียวกันครบ 53 รายการ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32EE2-666A-4FCB-97C9-E091BB63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576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0325A-048F-43AA-957C-83A23E9C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ควบคุมตัวแปร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A8861-F1FD-4C5C-BB49-75127E35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19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Vector, embedding, RRF k และ LLM เหมือนเดิม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3A0A8-53B8-4BF1-BAFD-963BF1F9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คำสั่งทดลอง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7E538-471D-465E-B7B0-5B45F1EB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387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build_thai_bm25_index.py --recreate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6A462-0C66-4FD5-97C7-3B83569C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Improving RAG Retrieval Performance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07375-06EB-4BED-95EE-660F47FE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39776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A1E23-78E5-4D4D-BE8E-0532D0D7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Weighted Reciprocal Rank 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76D78-0114-4F35-BAA1-ACF42177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B30FE-E092-43C6-97AF-5271ECF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Thai BM25 ช่วยเพิ่ม recall แต่ต้องลดน้ำหนักเพื่อไม่ให้รบกวน Vector มากเกินไป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8F028-DD04-4268-B36E-3EBE29E7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score(d) = Σ  weightᵢ / (60 + rankᵢ(d))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8913C-F9D6-4066-85AE-CB986E53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3295650"/>
          </a:xfrm>
          <a:prstGeom xmlns:a="http://schemas.openxmlformats.org/drawingml/2006/main" prst="roundRect">
            <a:avLst>
              <a:gd name="adj" fmla="val 115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D7233-FCBD-47D2-AA0B-0B5CEDFE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evaluate_improvement.py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98E0B-9446-4866-8AC3-BBEB6A60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6515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def weighted_rrf(rankings, weights, rrf_k=60):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scores = {}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for ranking, weight in zip(rankings, weights):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    for rank, (doc_id, _) in enumerate(ranking):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        scores[doc_id] = scores.get(doc_id, 0.0) \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            + weight / (rrf_k + rank)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return sorted(scores.items(),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              key=lambda x: x[1], reverse=True)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weighted_rrf([thai_bm25, vector],</a:t>
            </a:r>
          </a:p>
          <a:p xmlns:a="http://schemas.openxmlformats.org/drawingml/2006/main">
            <a:pPr>
              <a:defRPr sz="1050" b="0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2E8F0"/>
                </a:solidFill>
                <a:latin typeface="Menlo"/>
                <a:ea typeface="Menlo"/>
                <a:cs typeface="Menlo"/>
              </a:rPr>
              <a:t>             weights=[0.25, 1.0])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A7949-46D1-42D4-A6EC-B9956DAC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น้ำหนักที่ใช้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F9748-1208-43AF-96AA-472AB39D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1352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Thai BM25</a:t>
            </a:r>
          </a:p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0.25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A13D1-78A1-493A-AB6C-A63181A0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48000"/>
            <a:ext cx="1352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Vector</a:t>
            </a:r>
          </a:p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1.00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B278C-CE29-42E7-9EDA-742373B0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96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Vector ยังคงเป็นสัญญาณหลัก</a:t>
            </a:r>
          </a:p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Thai BM25 เพิ่ม lexical matches ที่ Vector อาจพลาด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8F012-88C8-4FA8-B360-FA2CBEA4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Improving RAG Retrieval 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4DFEA-6186-451E-BA13-686F45A6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82087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E5EA8-30D3-4431-9EA7-6699C049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วิธีวัดผล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9D074-BD28-41D7-B3D7-64EA469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7C0E0-EFDA-4100-9610-CA94E861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เปรียบเทียบทุกวิธีด้วยข้อมูลและ qrels ชุดเดียวกัน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965A1-2669-4318-A4C6-829C8340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2489F-BA91-458E-B447-97A4C3DC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chunks ใน corpus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126BF-7CD3-4419-8A83-1386360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621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F9AC6-2829-4C6E-B787-3305A6E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66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คำถามภาษาไทย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5A2F8-5149-4175-9F4A-82C4FE13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621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Top-5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22223-4ED2-4987-ADAA-CA7A9051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ผลลัพธ์ที่ประเมิน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E9E90-A158-4D41-9472-ABAE584F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5621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68F76-4E8E-4237-872F-DF1BE783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66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candidates ต่อ retriever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4AE67-8459-4785-BC9B-6628E419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2EF5A-1283-4ADE-852F-FC30D457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Hit@5    Precision@5    Recall@5    MRR    nDCG@5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262DA-5662-4EEA-89D4-68C5A338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ควบคุมให้เหมือนกัน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8B517-F796-41FC-B97C-48F9768E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Corpus และ chunks ชุดเดิม</a:t>
            </a:r>
          </a:p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Embedding model เดิม</a:t>
            </a:r>
          </a:p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RRF k = 60 และ LLM เดิม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0BAC9-968F-4635-B7A7-11228BE5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สิ่งที่เปลี่ยน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AEB16-386C-4789-B90F-772C30B8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7205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Standard analyzer เป็น Thai analyzer</a:t>
            </a:r>
          </a:p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Equal RRF เป็น Weighted RRF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B21F7-E379-4080-AE8F-C1B9C467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Improving RAG Retrieval Performance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2DD97-CE12-4DE3-8AC7-6EE088D0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82222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EF133-78E7-4065-BC86-DC8E47FC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ผลการประเมิน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2B465-9BCE-4ACE-B145-E9DDAC31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37A92-1CD5-404B-9600-4CEE8EBA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Thai analyzer ทำให้ BM25 กลับมาค้นหาได้ และ Weighted RRF เพิ่ม Precision กับ Recall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9862C-FD89-4604-ABA8-B16F77AB8E3E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5569"/>
                <a:gridCol w="1406769"/>
                <a:gridCol w="1688123"/>
                <a:gridCol w="1688123"/>
                <a:gridCol w="1406769"/>
                <a:gridCol w="1547446"/>
              </a:tblGrid>
              <a:tr h="53067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Hit@5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Precision@5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Recall@5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MRR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nDCG@5</a:t>
                      </a:r>
                    </a:p>
                  </a:txBody>
                  <a:tcPr marL="91440" marR="91440" marT="45720" marB="45720" anchor="ctr">
                    <a:solidFill>
                      <a:srgbClr val="12304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Standard BM25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0.000</a:t>
                      </a:r>
                    </a:p>
                  </a:txBody>
                  <a:tcPr marL="91440" marR="91440" marT="45720" marB="4572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Thai BM25</a:t>
                      </a:r>
                    </a:p>
                  </a:txBody>
                  <a:tcPr marL="91440" marR="91440" marT="45720" marB="45720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0.240</a:t>
                      </a:r>
                    </a:p>
                  </a:txBody>
                  <a:tcPr marL="91440" marR="91440" marT="45720" marB="45720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0.667</a:t>
                      </a:r>
                    </a:p>
                  </a:txBody>
                  <a:tcPr marL="91440" marR="91440" marT="45720" marB="45720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0.557</a:t>
                      </a:r>
                    </a:p>
                  </a:txBody>
                  <a:tcPr marL="91440" marR="91440" marT="45720" marB="45720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0.534</a:t>
                      </a:r>
                    </a:p>
                  </a:txBody>
                  <a:tcPr marL="91440" marR="91440" marT="45720" marB="45720" anchor="ctr">
                    <a:solidFill>
                      <a:srgbClr val="DDF4F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Vector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1.000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0.360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0.933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1.000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0.862</a:t>
                      </a:r>
                    </a:p>
                  </a:txBody>
                  <a:tcPr marL="91440" marR="91440" marT="45720" marB="4572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Baseline RRF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1.000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0.360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0.933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1.000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0.862</a:t>
                      </a:r>
                    </a:p>
                  </a:txBody>
                  <a:tcPr marL="91440" marR="91440" marT="45720" marB="4572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Equal RRF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1.000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0.280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0.733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0.900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0.729</a:t>
                      </a:r>
                    </a:p>
                  </a:txBody>
                  <a:tcPr marL="91440" marR="91440" marT="45720" marB="4572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Weighted RRF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0.400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0.767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F172A"/>
                          </a:solidFill>
                          <a:latin typeface="Tahoma"/>
                          <a:ea typeface="Tahoma"/>
                          <a:cs typeface="Tahoma"/>
                        </a:rPr>
                        <a:t>0.799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8809F-EF28-4AAF-B964-CA6AC0A9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Latency end-to-end: 58.686 ms เป็น 61.023 ms  (+2.337 ms)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6B131-4973-4401-9853-D4AE9311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ข้อมูลจริงจากการรัน 20 ต.ค.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E5326-171D-4B28-8804-92CBEF8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Improving RAG Retrieval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EA11C-7511-4906-A066-99154D96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02155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8782E-32BF-4AA7-BE13-41D714A0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สรุปผลและข้อจำกัด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C9B50-9566-4F07-ADAB-4AE6DD17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5522A-CF71-46F0-A3DE-7324625B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ระบบปรับปรุงค้นพบเอกสาร relevant ครบขึ้น แต่ลำดับต้นยังต้องปรับต่อ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64C7BEB-8EEF-4ADC-936A-F765D2848FA7}"/>
              </a:ext>
            </a:extLst>
          </p:cNvPr>
          <p:cNvGraphicFramePr/>
          <p:nvPr/>
        </p:nvGraphicFramePr>
        <p:xfrm>
          <a:off xmlns:a="http://schemas.openxmlformats.org/drawingml/2006/main" x="514350" y="15240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41e1870c5c47c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A1529-59D0-4DF4-BCCC-0BBB746A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002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1580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5803D"/>
                </a:solidFill>
                <a:latin typeface="Tahoma"/>
                <a:ea typeface="Tahoma"/>
                <a:cs typeface="Tahoma"/>
              </a:rPr>
              <a:t>ดีขึ้น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288BA-838A-4ADE-A24B-6395A195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Precision@5  0.360 เป็น 0.400</a:t>
            </a:r>
          </a:p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Recall@5       0.933 เป็น 1.000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469B5-9B99-4B44-97D3-01EC1FC3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Trade-off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82885-DC0D-444A-9572-0E4C0543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5760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MRR และ nDCG@5 ลดลง</a:t>
            </a:r>
          </a:p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Equal RRF แย่กว่า Vector</a:t>
            </a:r>
          </a:p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น้ำหนัก 0.25/1.0 ยังต้องทดสอบกับชุดข้อมูลใหญ่ขึ้น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16404-7014-4754-A120-C5364B1A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97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0F766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F766E"/>
                </a:solidFill>
                <a:latin typeface="Tahoma"/>
                <a:ea typeface="Tahoma"/>
                <a:cs typeface="Tahoma"/>
              </a:rPr>
              <a:t>github.com/NATTAPAT-LEUNGRUNGSAP/</a:t>
            </a:r>
          </a:p>
          <a:p xmlns:a="http://schemas.openxmlformats.org/drawingml/2006/main">
            <a:pPr>
              <a:defRPr sz="1050" b="0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F766E"/>
                </a:solidFill>
                <a:latin typeface="Tahoma"/>
                <a:ea typeface="Tahoma"/>
                <a:cs typeface="Tahoma"/>
              </a:rPr>
              <a:t>improving-rag-retrieval-performance-using-hybrid-search-and-reciprocal-rank-fusion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9D128-5404-407B-98F7-B1AAF22D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Improving RAG Retrieval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97335-9B0E-4A62-84C7-B1077C67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5102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2026-10-20T07:14:31.6110000Z</dcterms:created>
  <dcterms:modified xsi:type="dcterms:W3CDTF">2026-10-20T07:14:31.6110000Z</dcterms:modified>
</coreProperties>
</file>